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56" r:id="rId2"/>
    <p:sldId id="299" r:id="rId3"/>
    <p:sldId id="291" r:id="rId4"/>
    <p:sldId id="301" r:id="rId5"/>
    <p:sldId id="292" r:id="rId6"/>
    <p:sldId id="290" r:id="rId7"/>
    <p:sldId id="286" r:id="rId8"/>
    <p:sldId id="287" r:id="rId9"/>
    <p:sldId id="288" r:id="rId10"/>
    <p:sldId id="289" r:id="rId11"/>
    <p:sldId id="294" r:id="rId12"/>
    <p:sldId id="257" r:id="rId13"/>
    <p:sldId id="258" r:id="rId14"/>
    <p:sldId id="259" r:id="rId15"/>
    <p:sldId id="262" r:id="rId16"/>
    <p:sldId id="295" r:id="rId17"/>
    <p:sldId id="264" r:id="rId18"/>
    <p:sldId id="266" r:id="rId19"/>
    <p:sldId id="267" r:id="rId20"/>
    <p:sldId id="296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7" r:id="rId30"/>
    <p:sldId id="278" r:id="rId31"/>
    <p:sldId id="285" r:id="rId32"/>
    <p:sldId id="279" r:id="rId33"/>
    <p:sldId id="297" r:id="rId34"/>
    <p:sldId id="280" r:id="rId35"/>
    <p:sldId id="281" r:id="rId36"/>
    <p:sldId id="282" r:id="rId37"/>
    <p:sldId id="302" r:id="rId38"/>
    <p:sldId id="283" r:id="rId39"/>
    <p:sldId id="293" r:id="rId40"/>
    <p:sldId id="303" r:id="rId41"/>
    <p:sldId id="284" r:id="rId42"/>
    <p:sldId id="300" r:id="rId43"/>
    <p:sldId id="298" r:id="rId4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23" autoAdjust="0"/>
    <p:restoredTop sz="94660"/>
  </p:normalViewPr>
  <p:slideViewPr>
    <p:cSldViewPr>
      <p:cViewPr varScale="1">
        <p:scale>
          <a:sx n="68" d="100"/>
          <a:sy n="68" d="100"/>
        </p:scale>
        <p:origin x="1662" y="60"/>
      </p:cViewPr>
      <p:guideLst>
        <p:guide orient="horz" pos="2160"/>
        <p:guide pos="2880"/>
      </p:guideLst>
    </p:cSldViewPr>
  </p:slideViewPr>
  <p:notesTextViewPr>
    <p:cViewPr>
      <p:scale>
        <a:sx n="33" d="100"/>
        <a:sy n="33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81867F-D1B4-4DFD-AFE6-BE17C139B320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EF526-2D0C-41E7-B531-343B756FC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66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EF526-2D0C-41E7-B531-343B756FCC6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892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EF526-2D0C-41E7-B531-343B756FCC6A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296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E6AD0-1E06-4191-8631-056CCFDBE5A7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F5938-BC4B-466E-8BAA-4CC393F6806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E6AD0-1E06-4191-8631-056CCFDBE5A7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F5938-BC4B-466E-8BAA-4CC393F6806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E6AD0-1E06-4191-8631-056CCFDBE5A7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F5938-BC4B-466E-8BAA-4CC393F6806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E6AD0-1E06-4191-8631-056CCFDBE5A7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F5938-BC4B-466E-8BAA-4CC393F6806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E6AD0-1E06-4191-8631-056CCFDBE5A7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F5938-BC4B-466E-8BAA-4CC393F6806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E6AD0-1E06-4191-8631-056CCFDBE5A7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F5938-BC4B-466E-8BAA-4CC393F6806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E6AD0-1E06-4191-8631-056CCFDBE5A7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F5938-BC4B-466E-8BAA-4CC393F6806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E6AD0-1E06-4191-8631-056CCFDBE5A7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F5938-BC4B-466E-8BAA-4CC393F6806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E6AD0-1E06-4191-8631-056CCFDBE5A7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F5938-BC4B-466E-8BAA-4CC393F6806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E6AD0-1E06-4191-8631-056CCFDBE5A7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F5938-BC4B-466E-8BAA-4CC393F6806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E6AD0-1E06-4191-8631-056CCFDBE5A7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F5938-BC4B-466E-8BAA-4CC393F6806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FE6AD0-1E06-4191-8631-056CCFDBE5A7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2F5938-BC4B-466E-8BAA-4CC393F68066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" y="2590800"/>
            <a:ext cx="9144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High Speed Computational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Maths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ctr"/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Maths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Society, IIT Delhi</a:t>
            </a:r>
          </a:p>
          <a:p>
            <a:pPr algn="ctr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12</a:t>
            </a:r>
            <a:r>
              <a:rPr lang="en-US" sz="3600" baseline="30000" dirty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" y="259080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Cellphones on Airplane Mode and Stowed away</a:t>
            </a:r>
          </a:p>
        </p:txBody>
      </p:sp>
    </p:spTree>
    <p:extLst>
      <p:ext uri="{BB962C8B-B14F-4D97-AF65-F5344CB8AC3E}">
        <p14:creationId xmlns:p14="http://schemas.microsoft.com/office/powerpoint/2010/main" val="1015714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" y="2590800"/>
            <a:ext cx="9144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Vedic 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Maths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is a Misnomer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o appendix in Atharva Veda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No mention of any 32 Sutras</a:t>
            </a:r>
          </a:p>
        </p:txBody>
      </p:sp>
    </p:spTree>
    <p:extLst>
      <p:ext uri="{BB962C8B-B14F-4D97-AF65-F5344CB8AC3E}">
        <p14:creationId xmlns:p14="http://schemas.microsoft.com/office/powerpoint/2010/main" val="3431642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" y="5486400"/>
            <a:ext cx="9144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Vedic 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Maths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en-US" sz="36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Sutras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en-US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Make no sense even though we can read </a:t>
            </a:r>
            <a:r>
              <a:rPr lang="en-US" sz="28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Devnagiri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1026" name="Picture 2" descr="16 Sutras Of Vedic Maths Pdf - greenwayscene">
            <a:extLst>
              <a:ext uri="{FF2B5EF4-FFF2-40B4-BE49-F238E27FC236}">
                <a16:creationId xmlns:a16="http://schemas.microsoft.com/office/drawing/2014/main" id="{76FEBCCF-8C11-6CDA-F515-CF8CEE1FE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0" y="133350"/>
            <a:ext cx="6934200" cy="520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4212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" y="457200"/>
            <a:ext cx="9144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Maths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Etymology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To Think or Learn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Polymath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is a very learned person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6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Phillomath</a:t>
            </a:r>
            <a:r>
              <a:rPr lang="en-US" sz="36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lover of knowledge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Pantomath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One who has learnt everything</a:t>
            </a:r>
          </a:p>
        </p:txBody>
      </p:sp>
    </p:spTree>
    <p:extLst>
      <p:ext uri="{BB962C8B-B14F-4D97-AF65-F5344CB8AC3E}">
        <p14:creationId xmlns:p14="http://schemas.microsoft.com/office/powerpoint/2010/main" val="65524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636687"/>
            <a:ext cx="8763000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Base  Method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Base Numbers are   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10	100	   1000</a:t>
            </a:r>
          </a:p>
        </p:txBody>
      </p:sp>
    </p:spTree>
    <p:extLst>
      <p:ext uri="{BB962C8B-B14F-4D97-AF65-F5344CB8AC3E}">
        <p14:creationId xmlns:p14="http://schemas.microsoft.com/office/powerpoint/2010/main" val="184910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636687"/>
            <a:ext cx="8879354" cy="5416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Casting out 9s or Single Digits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14 + 12 	= 	26</a:t>
            </a:r>
          </a:p>
          <a:p>
            <a:pPr marL="914400" marR="0" lvl="0" indent="-914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lain" startAt="14"/>
              <a:tabLst/>
              <a:defRPr/>
            </a:pPr>
            <a:r>
              <a:rPr lang="en-US" sz="5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- 12 	= 	  2</a:t>
            </a:r>
          </a:p>
          <a:p>
            <a:pPr marL="914400" marR="0" lvl="0" indent="-914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lain" startAt="14"/>
              <a:tabLst/>
              <a:defRPr/>
            </a:pP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Used in </a:t>
            </a:r>
            <a:r>
              <a:rPr lang="en-US" sz="32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Division Veracity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Dividend = (Quotient x </a:t>
            </a:r>
            <a:r>
              <a:rPr lang="en-US" sz="3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Divisor ) + </a:t>
            </a:r>
            <a:r>
              <a:rPr lang="en-US" sz="4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Remainder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7608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-152400"/>
            <a:ext cx="8797601" cy="64633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Vinculu</a:t>
            </a:r>
            <a:r>
              <a:rPr lang="en-US" sz="5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Numbers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	Numbers with + </a:t>
            </a:r>
            <a:r>
              <a:rPr lang="en-US" sz="36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ve</a:t>
            </a:r>
            <a:r>
              <a:rPr lang="en-US" sz="36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n - </a:t>
            </a:r>
            <a:r>
              <a:rPr lang="en-US" sz="36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ve</a:t>
            </a:r>
            <a:r>
              <a:rPr lang="en-US" sz="36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digits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	+ 12 and -12 are normal +</a:t>
            </a:r>
            <a:r>
              <a:rPr lang="en-US" sz="32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ve</a:t>
            </a:r>
            <a:r>
              <a:rPr lang="en-US" sz="3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and – </a:t>
            </a:r>
            <a:r>
              <a:rPr lang="en-US" sz="32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ve</a:t>
            </a:r>
            <a:r>
              <a:rPr lang="en-US" sz="3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numbers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2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	1   2 is a Vinculum Number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	Value is   	1 x 10 	=  - 10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			2 x 1 	=   + 2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					=    - 8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2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Digits 6, 7, 8 n 9 are not used in High speed </a:t>
            </a:r>
            <a:r>
              <a:rPr lang="en-US" sz="32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maths</a:t>
            </a:r>
            <a:endParaRPr lang="en-US" sz="32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Their 10s complements are used	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C3CE40C-60CF-9035-E9A6-5AAC498D80D4}"/>
              </a:ext>
            </a:extLst>
          </p:cNvPr>
          <p:cNvCxnSpPr>
            <a:cxnSpLocks/>
          </p:cNvCxnSpPr>
          <p:nvPr/>
        </p:nvCxnSpPr>
        <p:spPr>
          <a:xfrm>
            <a:off x="1143000" y="2819400"/>
            <a:ext cx="152400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46983E8-3AB8-3AF4-FB2B-A3CCD5DDA9F3}"/>
              </a:ext>
            </a:extLst>
          </p:cNvPr>
          <p:cNvCxnSpPr>
            <a:cxnSpLocks/>
          </p:cNvCxnSpPr>
          <p:nvPr/>
        </p:nvCxnSpPr>
        <p:spPr>
          <a:xfrm>
            <a:off x="2971800" y="3352800"/>
            <a:ext cx="152400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2850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636687"/>
            <a:ext cx="582082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Place value of digits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		21 and 12</a:t>
            </a:r>
          </a:p>
        </p:txBody>
      </p:sp>
    </p:spTree>
    <p:extLst>
      <p:ext uri="{BB962C8B-B14F-4D97-AF65-F5344CB8AC3E}">
        <p14:creationId xmlns:p14="http://schemas.microsoft.com/office/powerpoint/2010/main" val="1670494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636687"/>
            <a:ext cx="5320687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Distributivity Law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5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54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x+y</a:t>
            </a:r>
            <a:r>
              <a:rPr lang="en-US" sz="5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 z =  </a:t>
            </a:r>
            <a:r>
              <a:rPr lang="en-US" sz="54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xz</a:t>
            </a:r>
            <a:r>
              <a:rPr lang="en-US" sz="5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sz="54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yz</a:t>
            </a:r>
            <a:endParaRPr lang="en-US" sz="5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>
              <a:defRPr/>
            </a:pPr>
            <a:r>
              <a:rPr lang="en-US" sz="5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(x-y) z =  </a:t>
            </a:r>
            <a:r>
              <a:rPr lang="en-US" sz="54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xz</a:t>
            </a:r>
            <a:r>
              <a:rPr lang="en-US" sz="5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en-US" sz="54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yz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6099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192" y="3191470"/>
            <a:ext cx="928520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ADDITION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4 concepts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7851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429000" y="762000"/>
            <a:ext cx="530915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latin typeface="Times New Roman" pitchFamily="18" charset="0"/>
                <a:cs typeface="Times New Roman" pitchFamily="18" charset="0"/>
              </a:rPr>
              <a:t>9</a:t>
            </a:r>
          </a:p>
          <a:p>
            <a:r>
              <a:rPr lang="en-US" sz="5400" dirty="0">
                <a:latin typeface="Times New Roman" pitchFamily="18" charset="0"/>
                <a:cs typeface="Times New Roman" pitchFamily="18" charset="0"/>
              </a:rPr>
              <a:t>8</a:t>
            </a:r>
          </a:p>
          <a:p>
            <a:r>
              <a:rPr lang="en-US" sz="5400" dirty="0">
                <a:latin typeface="Times New Roman" pitchFamily="18" charset="0"/>
                <a:cs typeface="Times New Roman" pitchFamily="18" charset="0"/>
              </a:rPr>
              <a:t>7</a:t>
            </a:r>
          </a:p>
          <a:p>
            <a:r>
              <a:rPr lang="en-US" sz="5400" dirty="0">
                <a:latin typeface="Times New Roman" pitchFamily="18" charset="0"/>
                <a:cs typeface="Times New Roman" pitchFamily="18" charset="0"/>
              </a:rPr>
              <a:t>6</a:t>
            </a:r>
          </a:p>
          <a:p>
            <a:r>
              <a:rPr lang="en-US" sz="5400" dirty="0">
                <a:latin typeface="Times New Roman" pitchFamily="18" charset="0"/>
                <a:cs typeface="Times New Roman" pitchFamily="18" charset="0"/>
              </a:rPr>
              <a:t>5</a:t>
            </a:r>
          </a:p>
          <a:p>
            <a:r>
              <a:rPr lang="en-US" sz="5400" dirty="0">
                <a:latin typeface="Times New Roman" pitchFamily="18" charset="0"/>
                <a:cs typeface="Times New Roman" pitchFamily="18" charset="0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4867870"/>
            <a:ext cx="5757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latin typeface="Times New Roman" pitchFamily="18" charset="0"/>
                <a:cs typeface="Times New Roman" pitchFamily="18" charset="0"/>
              </a:rPr>
              <a:t>+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62200" y="2743200"/>
            <a:ext cx="38651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latin typeface="Times New Roman" pitchFamily="18" charset="0"/>
                <a:cs typeface="Times New Roman" pitchFamily="18" charset="0"/>
              </a:rPr>
              <a:t> 4999 + 5678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971800" y="2819400"/>
            <a:ext cx="29995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latin typeface="Times New Roman" pitchFamily="18" charset="0"/>
                <a:cs typeface="Times New Roman" pitchFamily="18" charset="0"/>
              </a:rPr>
              <a:t>126 + 132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" y="1981200"/>
            <a:ext cx="8534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itchFamily="18" charset="0"/>
                <a:cs typeface="Times New Roman" pitchFamily="18" charset="0"/>
              </a:rPr>
              <a:t>49 – 78 + 12 – 45</a:t>
            </a:r>
          </a:p>
          <a:p>
            <a:endParaRPr lang="en-US" sz="5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How would you solve it – assuming you had 5 digit numbers</a:t>
            </a:r>
            <a:endParaRPr lang="en-US" sz="5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192" y="3191470"/>
            <a:ext cx="928520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SUBTRACTION</a:t>
            </a:r>
          </a:p>
          <a:p>
            <a:pPr algn="ctr">
              <a:defRPr/>
            </a:pPr>
            <a:r>
              <a:rPr lang="en-US" sz="5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3 concepts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20460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62200" y="2743200"/>
            <a:ext cx="5791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itchFamily="18" charset="0"/>
                <a:cs typeface="Times New Roman" pitchFamily="18" charset="0"/>
              </a:rPr>
              <a:t>5001 - 4278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62200" y="2743200"/>
            <a:ext cx="5791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itchFamily="18" charset="0"/>
                <a:cs typeface="Times New Roman" pitchFamily="18" charset="0"/>
              </a:rPr>
              <a:t>1 00 000 – 42 678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362200"/>
            <a:ext cx="9067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Times New Roman" pitchFamily="18" charset="0"/>
                <a:cs typeface="Times New Roman" pitchFamily="18" charset="0"/>
              </a:rPr>
              <a:t>   			   8 24 58 83 </a:t>
            </a:r>
          </a:p>
          <a:p>
            <a:r>
              <a:rPr lang="en-US" sz="4800" dirty="0">
                <a:latin typeface="Times New Roman" pitchFamily="18" charset="0"/>
                <a:cs typeface="Times New Roman" pitchFamily="18" charset="0"/>
              </a:rPr>
              <a:t>			– 5 89 14 26 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192" y="3191470"/>
            <a:ext cx="928520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MULTIPLICATION</a:t>
            </a:r>
          </a:p>
          <a:p>
            <a:pPr algn="ctr">
              <a:defRPr/>
            </a:pPr>
            <a:r>
              <a:rPr lang="en-US" sz="5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14 concepts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75486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3400" y="2362200"/>
            <a:ext cx="8153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Times New Roman" pitchFamily="18" charset="0"/>
                <a:cs typeface="Times New Roman" pitchFamily="18" charset="0"/>
              </a:rPr>
              <a:t>23 x 11		23 x 111</a:t>
            </a:r>
          </a:p>
          <a:p>
            <a:r>
              <a:rPr lang="en-US" sz="4800" dirty="0">
                <a:latin typeface="Times New Roman" pitchFamily="18" charset="0"/>
                <a:cs typeface="Times New Roman" pitchFamily="18" charset="0"/>
              </a:rPr>
              <a:t>23 x 88	23 x 888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3400" y="2362200"/>
            <a:ext cx="8153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Times New Roman" pitchFamily="18" charset="0"/>
                <a:cs typeface="Times New Roman" pitchFamily="18" charset="0"/>
              </a:rPr>
              <a:t>23 x 99		23 x 999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2362200"/>
            <a:ext cx="8153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Times New Roman" pitchFamily="18" charset="0"/>
                <a:cs typeface="Times New Roman" pitchFamily="18" charset="0"/>
              </a:rPr>
              <a:t>52</a:t>
            </a:r>
            <a:r>
              <a:rPr lang="en-US" sz="4800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4800" dirty="0">
                <a:latin typeface="Times New Roman" pitchFamily="18" charset="0"/>
                <a:cs typeface="Times New Roman" pitchFamily="18" charset="0"/>
              </a:rPr>
              <a:t>				59</a:t>
            </a:r>
            <a:r>
              <a:rPr lang="en-US" sz="4800" baseline="300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2362200"/>
            <a:ext cx="8153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Times New Roman" pitchFamily="18" charset="0"/>
                <a:cs typeface="Times New Roman" pitchFamily="18" charset="0"/>
              </a:rPr>
              <a:t>25</a:t>
            </a:r>
            <a:r>
              <a:rPr lang="en-US" sz="4800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4800" dirty="0">
                <a:latin typeface="Times New Roman" pitchFamily="18" charset="0"/>
                <a:cs typeface="Times New Roman" pitchFamily="18" charset="0"/>
              </a:rPr>
              <a:t>				85</a:t>
            </a:r>
            <a:r>
              <a:rPr lang="en-US" sz="4800" baseline="30000" dirty="0">
                <a:latin typeface="Times New Roman" pitchFamily="18" charset="0"/>
                <a:cs typeface="Times New Roman" pitchFamily="18" charset="0"/>
              </a:rPr>
              <a:t>2     </a:t>
            </a:r>
          </a:p>
          <a:p>
            <a:endParaRPr lang="en-US" sz="4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4800" dirty="0">
                <a:latin typeface="Times New Roman" pitchFamily="18" charset="0"/>
                <a:cs typeface="Times New Roman" pitchFamily="18" charset="0"/>
              </a:rPr>
              <a:t>325</a:t>
            </a:r>
            <a:r>
              <a:rPr lang="en-US" sz="4800" baseline="300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2362200"/>
            <a:ext cx="8153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Times New Roman" pitchFamily="18" charset="0"/>
                <a:cs typeface="Times New Roman" pitchFamily="18" charset="0"/>
              </a:rPr>
              <a:t>88 x 5		88 x 25	88x125</a:t>
            </a:r>
            <a:endParaRPr lang="en-US" sz="4800" baseline="30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2362200"/>
            <a:ext cx="8763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Times New Roman" pitchFamily="18" charset="0"/>
                <a:cs typeface="Times New Roman" pitchFamily="18" charset="0"/>
              </a:rPr>
              <a:t>17.5 % of 489</a:t>
            </a:r>
            <a:endParaRPr lang="en-US" sz="4800" baseline="30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2362200"/>
            <a:ext cx="8991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Times New Roman" pitchFamily="18" charset="0"/>
                <a:cs typeface="Times New Roman" pitchFamily="18" charset="0"/>
              </a:rPr>
              <a:t>12 x 34			123 x 456</a:t>
            </a:r>
            <a:endParaRPr lang="en-US" sz="4800" baseline="30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2362200"/>
            <a:ext cx="868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Times New Roman" pitchFamily="18" charset="0"/>
                <a:cs typeface="Times New Roman" pitchFamily="18" charset="0"/>
              </a:rPr>
              <a:t>88 x 82		28 x88</a:t>
            </a:r>
            <a:endParaRPr lang="en-US" sz="4800" baseline="30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2362200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Times New Roman" pitchFamily="18" charset="0"/>
                <a:cs typeface="Times New Roman" pitchFamily="18" charset="0"/>
              </a:rPr>
              <a:t>98 x 97	102 x 103        102 x98</a:t>
            </a:r>
            <a:endParaRPr lang="en-US" sz="4800" baseline="30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2362200"/>
            <a:ext cx="8153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Times New Roman" pitchFamily="18" charset="0"/>
                <a:cs typeface="Times New Roman" pitchFamily="18" charset="0"/>
              </a:rPr>
              <a:t>47 x 46</a:t>
            </a:r>
            <a:endParaRPr lang="en-US" sz="4800" baseline="30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0500" y="3429000"/>
            <a:ext cx="8763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497 X 35       			503 x 35</a:t>
            </a:r>
          </a:p>
        </p:txBody>
      </p:sp>
    </p:spTree>
    <p:extLst>
      <p:ext uri="{BB962C8B-B14F-4D97-AF65-F5344CB8AC3E}">
        <p14:creationId xmlns:p14="http://schemas.microsoft.com/office/powerpoint/2010/main" val="1121725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2362200"/>
            <a:ext cx="868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Times New Roman" pitchFamily="18" charset="0"/>
                <a:cs typeface="Times New Roman" pitchFamily="18" charset="0"/>
              </a:rPr>
              <a:t>Tables of 79     798</a:t>
            </a:r>
            <a:endParaRPr lang="en-US" sz="4800" baseline="30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192" y="3191470"/>
            <a:ext cx="928520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DIVISION</a:t>
            </a:r>
          </a:p>
          <a:p>
            <a:pPr algn="ctr">
              <a:defRPr/>
            </a:pPr>
            <a:r>
              <a:rPr lang="en-US" sz="5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7 concepts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46050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2362200"/>
            <a:ext cx="868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Times New Roman" pitchFamily="18" charset="0"/>
                <a:cs typeface="Times New Roman" pitchFamily="18" charset="0"/>
              </a:rPr>
              <a:t>	253 ÷ 11			253 ÷ 111</a:t>
            </a:r>
            <a:endParaRPr lang="en-US" sz="4800" baseline="30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2362200"/>
            <a:ext cx="8991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Times New Roman" pitchFamily="18" charset="0"/>
                <a:cs typeface="Times New Roman" pitchFamily="18" charset="0"/>
              </a:rPr>
              <a:t>253 ÷ 9				253 ÷ 99</a:t>
            </a:r>
            <a:endParaRPr lang="en-US" sz="4800" baseline="30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2362200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Times New Roman" pitchFamily="18" charset="0"/>
                <a:cs typeface="Times New Roman" pitchFamily="18" charset="0"/>
              </a:rPr>
              <a:t>23 ÷ 101		253 ÷ 1001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2362200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48 ÷ 202 			</a:t>
            </a:r>
            <a:endParaRPr kumimoji="0" lang="en-US" sz="48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4269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2362200"/>
            <a:ext cx="8153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Times New Roman" pitchFamily="18" charset="0"/>
                <a:cs typeface="Times New Roman" pitchFamily="18" charset="0"/>
              </a:rPr>
              <a:t>456 ÷  978</a:t>
            </a:r>
            <a:endParaRPr lang="en-US" sz="4800" baseline="30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2362200"/>
            <a:ext cx="89916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6789 ÷ 98            6789 ÷ 102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8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6789 ÷ 32</a:t>
            </a:r>
            <a:endParaRPr kumimoji="0" lang="en-US" sz="48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			</a:t>
            </a:r>
            <a:r>
              <a:rPr lang="en-US" sz="4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6789 ÷ (32 x 3)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			 6789 ÷(32 x 4) </a:t>
            </a:r>
          </a:p>
        </p:txBody>
      </p:sp>
    </p:spTree>
    <p:extLst>
      <p:ext uri="{BB962C8B-B14F-4D97-AF65-F5344CB8AC3E}">
        <p14:creationId xmlns:p14="http://schemas.microsoft.com/office/powerpoint/2010/main" val="10770955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1219200"/>
            <a:ext cx="899160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6789 ÷ 98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8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Vinculumise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	Dividend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	Divisor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	And both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61248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0"/>
            <a:ext cx="899160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>
                <a:latin typeface="Times New Roman" pitchFamily="18" charset="0"/>
                <a:cs typeface="Times New Roman" pitchFamily="18" charset="0"/>
              </a:rPr>
              <a:t>2871 ÷ </a:t>
            </a:r>
            <a:r>
              <a:rPr lang="en-US" sz="4800" dirty="0">
                <a:latin typeface="Times New Roman" pitchFamily="18" charset="0"/>
                <a:cs typeface="Times New Roman" pitchFamily="18" charset="0"/>
              </a:rPr>
              <a:t>99		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Computable in 2 seconds</a:t>
            </a:r>
            <a:endParaRPr lang="en-US" sz="4800" dirty="0">
              <a:latin typeface="Times New Roman" pitchFamily="18" charset="0"/>
              <a:cs typeface="Times New Roman" pitchFamily="18" charset="0"/>
            </a:endParaRPr>
          </a:p>
          <a:p>
            <a:endParaRPr lang="en-US" sz="4800" dirty="0">
              <a:latin typeface="Times New Roman" pitchFamily="18" charset="0"/>
              <a:cs typeface="Times New Roman" pitchFamily="18" charset="0"/>
            </a:endParaRPr>
          </a:p>
          <a:p>
            <a:endParaRPr lang="en-US" sz="4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4800" dirty="0">
                <a:latin typeface="Times New Roman" pitchFamily="18" charset="0"/>
                <a:cs typeface="Times New Roman" pitchFamily="18" charset="0"/>
              </a:rPr>
              <a:t>1234 x 4321	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Computable in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1 minute</a:t>
            </a:r>
            <a:endParaRPr lang="en-US" sz="4800" dirty="0">
              <a:latin typeface="Times New Roman" pitchFamily="18" charset="0"/>
              <a:cs typeface="Times New Roman" pitchFamily="18" charset="0"/>
            </a:endParaRPr>
          </a:p>
          <a:p>
            <a:endParaRPr lang="en-US" sz="4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4800" baseline="30000" dirty="0">
                <a:latin typeface="Times New Roman" pitchFamily="18" charset="0"/>
                <a:cs typeface="Times New Roman" pitchFamily="18" charset="0"/>
              </a:rPr>
              <a:t>				a)  5432114</a:t>
            </a:r>
          </a:p>
          <a:p>
            <a:r>
              <a:rPr lang="en-US" sz="4800" baseline="30000" dirty="0">
                <a:latin typeface="Times New Roman" pitchFamily="18" charset="0"/>
                <a:cs typeface="Times New Roman" pitchFamily="18" charset="0"/>
              </a:rPr>
              <a:t>				b)  5532114 </a:t>
            </a:r>
          </a:p>
          <a:p>
            <a:r>
              <a:rPr lang="en-US" sz="4800" baseline="30000" dirty="0">
                <a:latin typeface="Times New Roman" pitchFamily="18" charset="0"/>
                <a:cs typeface="Times New Roman" pitchFamily="18" charset="0"/>
              </a:rPr>
              <a:t>				c)   5332114 </a:t>
            </a:r>
          </a:p>
          <a:p>
            <a:r>
              <a:rPr lang="en-US" sz="4800" baseline="30000" dirty="0">
                <a:latin typeface="Times New Roman" pitchFamily="18" charset="0"/>
                <a:cs typeface="Times New Roman" pitchFamily="18" charset="0"/>
              </a:rPr>
              <a:t>				d)   5232114</a:t>
            </a:r>
          </a:p>
          <a:p>
            <a:endParaRPr lang="en-US" sz="4800" baseline="30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2590800"/>
            <a:ext cx="8991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Am looking for collaborators on books, videos to simplify </a:t>
            </a:r>
            <a:r>
              <a:rPr kumimoji="0" lang="en-US" sz="4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Maths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35050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1516082"/>
            <a:ext cx="8991600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Thank You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48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Vishal Bhatia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87 99 7444 90</a:t>
            </a:r>
            <a:endParaRPr kumimoji="0" lang="en-US" sz="48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1026" name="Picture 2" descr="Whatsapp Logo PNG icon 16716480 PNG">
            <a:extLst>
              <a:ext uri="{FF2B5EF4-FFF2-40B4-BE49-F238E27FC236}">
                <a16:creationId xmlns:a16="http://schemas.microsoft.com/office/drawing/2014/main" id="{A00B9FF4-65CD-AAE1-BABC-5722960384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6900" y="3619500"/>
            <a:ext cx="9525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8810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1040</TotalTime>
  <Words>537</Words>
  <Application>Microsoft Office PowerPoint</Application>
  <PresentationFormat>On-screen Show (4:3)</PresentationFormat>
  <Paragraphs>125</Paragraphs>
  <Slides>43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SONY</dc:creator>
  <cp:lastModifiedBy>LENOVO</cp:lastModifiedBy>
  <cp:revision>105</cp:revision>
  <dcterms:created xsi:type="dcterms:W3CDTF">2026-07-16T11:54:57Z</dcterms:created>
  <dcterms:modified xsi:type="dcterms:W3CDTF">2026-08-12T02:26:39Z</dcterms:modified>
</cp:coreProperties>
</file>