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91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9" r:id="rId11"/>
    <p:sldId id="292" r:id="rId12"/>
    <p:sldId id="293" r:id="rId13"/>
    <p:sldId id="294" r:id="rId14"/>
    <p:sldId id="295" r:id="rId15"/>
    <p:sldId id="303" r:id="rId16"/>
    <p:sldId id="304" r:id="rId17"/>
    <p:sldId id="310" r:id="rId18"/>
    <p:sldId id="306" r:id="rId19"/>
    <p:sldId id="307" r:id="rId20"/>
    <p:sldId id="311" r:id="rId21"/>
    <p:sldId id="308" r:id="rId22"/>
    <p:sldId id="30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09" autoAdjust="0"/>
    <p:restoredTop sz="94660"/>
  </p:normalViewPr>
  <p:slideViewPr>
    <p:cSldViewPr>
      <p:cViewPr varScale="1">
        <p:scale>
          <a:sx n="68" d="100"/>
          <a:sy n="68" d="100"/>
        </p:scale>
        <p:origin x="1182" y="60"/>
      </p:cViewPr>
      <p:guideLst>
        <p:guide orient="horz" pos="216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A0A98-9C7D-4645-B678-F44C9A3291A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A9A63-D3BC-4805-8AE4-79FD4E19AE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46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CA9A63-D3BC-4805-8AE4-79FD4E19AE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8474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A9A63-D3BC-4805-8AE4-79FD4E19AE7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4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CA9A63-D3BC-4805-8AE4-79FD4E19AE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5793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CA9A63-D3BC-4805-8AE4-79FD4E19AE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358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CA9A63-D3BC-4805-8AE4-79FD4E19AE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7853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CA9A63-D3BC-4805-8AE4-79FD4E19AE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058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CA9A63-D3BC-4805-8AE4-79FD4E19AE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0960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CA9A63-D3BC-4805-8AE4-79FD4E19AE7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64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E6AD0-1E06-4191-8631-056CCFDBE5A7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F5938-BC4B-466E-8BAA-4CC393F68066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2590800"/>
            <a:ext cx="914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>
                <a:latin typeface="Times New Roman" pitchFamily="18" charset="0"/>
                <a:cs typeface="Times New Roman" pitchFamily="18" charset="0"/>
              </a:rPr>
              <a:t>Maths</a:t>
            </a:r>
            <a:r>
              <a:rPr lang="en-US" sz="5400" b="1" dirty="0">
                <a:latin typeface="Times New Roman" pitchFamily="18" charset="0"/>
                <a:cs typeface="Times New Roman" pitchFamily="18" charset="0"/>
              </a:rPr>
              <a:t> Trivia</a:t>
            </a:r>
          </a:p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Maths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Society, IIT Delhi</a:t>
            </a:r>
          </a:p>
          <a:p>
            <a:pPr algn="ctr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36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133600"/>
            <a:ext cx="914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The Infinity Symbol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∞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LEMNISCATE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642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905000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Less and Greater than Signs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&lt;    &gt;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GUILLEMETS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Pronounced as </a:t>
            </a:r>
            <a:r>
              <a:rPr lang="en-US" sz="36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Geemos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85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124200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Question Mark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EROTEME</a:t>
            </a:r>
          </a:p>
        </p:txBody>
      </p:sp>
    </p:spTree>
    <p:extLst>
      <p:ext uri="{BB962C8B-B14F-4D97-AF65-F5344CB8AC3E}">
        <p14:creationId xmlns:p14="http://schemas.microsoft.com/office/powerpoint/2010/main" val="1473863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589074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Factorial Sign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ECPHONESIS OR ECPHONEME</a:t>
            </a:r>
          </a:p>
        </p:txBody>
      </p:sp>
    </p:spTree>
    <p:extLst>
      <p:ext uri="{BB962C8B-B14F-4D97-AF65-F5344CB8AC3E}">
        <p14:creationId xmlns:p14="http://schemas.microsoft.com/office/powerpoint/2010/main" val="277565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938278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Amblygon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angle   Am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obtuse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angle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>
              <a:defRPr/>
            </a:pPr>
            <a:r>
              <a:rPr kumimoji="0" 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Oxygon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angle  Am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Acute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angle  </a:t>
            </a:r>
          </a:p>
        </p:txBody>
      </p:sp>
    </p:spTree>
    <p:extLst>
      <p:ext uri="{BB962C8B-B14F-4D97-AF65-F5344CB8AC3E}">
        <p14:creationId xmlns:p14="http://schemas.microsoft.com/office/powerpoint/2010/main" val="1619693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762071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 sides of a right angle Triangle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CATHETUS</a:t>
            </a:r>
          </a:p>
        </p:txBody>
      </p:sp>
    </p:spTree>
    <p:extLst>
      <p:ext uri="{BB962C8B-B14F-4D97-AF65-F5344CB8AC3E}">
        <p14:creationId xmlns:p14="http://schemas.microsoft.com/office/powerpoint/2010/main" val="3795184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439882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Q is set of Rational Numbers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Why ?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How are Irrational Numbers represented ?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algn="ctr"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Why ℤ  is used for set of Integers ?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0105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381000"/>
                <a:ext cx="9144000" cy="50742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Vinculums in </a:t>
                </a:r>
                <a:r>
                  <a:rPr kumimoji="0" lang="en-US" sz="36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Maths</a:t>
                </a:r>
                <a:endPara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36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Latin </a:t>
                </a:r>
                <a:r>
                  <a:rPr kumimoji="0" lang="en-US" sz="36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for to tie or bind</a:t>
                </a:r>
                <a:endParaRPr lang="en-US" sz="36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0.123 123   √ 144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2  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 Fraction Bar   Used as Parentheses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8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1.2345     	1 is negative characteristic 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		0.2345 is Positive Mantissa  </a:t>
                </a: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8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8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V 		Roman Numerals</a:t>
                </a:r>
                <a:r>
                  <a:rPr lang="en-US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    </a:t>
                </a:r>
                <a:r>
                  <a:rPr lang="en-US" sz="28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means 5 x 1000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1000"/>
                <a:ext cx="9144000" cy="5074210"/>
              </a:xfrm>
              <a:prstGeom prst="rect">
                <a:avLst/>
              </a:prstGeom>
              <a:blipFill>
                <a:blip r:embed="rId2"/>
                <a:stretch>
                  <a:fillRect l="-1333" t="-2043" b="-2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2AAE4D-AD49-63B6-AF9A-1E79C345BDC0}"/>
              </a:ext>
            </a:extLst>
          </p:cNvPr>
          <p:cNvCxnSpPr>
            <a:cxnSpLocks/>
          </p:cNvCxnSpPr>
          <p:nvPr/>
        </p:nvCxnSpPr>
        <p:spPr>
          <a:xfrm>
            <a:off x="76200" y="50292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F815AFD-CB12-A0F7-C793-B826738E8AC9}"/>
              </a:ext>
            </a:extLst>
          </p:cNvPr>
          <p:cNvCxnSpPr/>
          <p:nvPr/>
        </p:nvCxnSpPr>
        <p:spPr>
          <a:xfrm>
            <a:off x="76200" y="48768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50E065-8A98-17AA-A18C-1F9A66EA1F26}"/>
              </a:ext>
            </a:extLst>
          </p:cNvPr>
          <p:cNvCxnSpPr/>
          <p:nvPr/>
        </p:nvCxnSpPr>
        <p:spPr>
          <a:xfrm>
            <a:off x="1981200" y="26670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C0851AD-FE57-6243-F6B4-BD03BCD485F9}"/>
              </a:ext>
            </a:extLst>
          </p:cNvPr>
          <p:cNvCxnSpPr>
            <a:cxnSpLocks/>
          </p:cNvCxnSpPr>
          <p:nvPr/>
        </p:nvCxnSpPr>
        <p:spPr>
          <a:xfrm>
            <a:off x="381000" y="26670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983D39-00FD-6DC8-BAF3-C4196ECF38BC}"/>
              </a:ext>
            </a:extLst>
          </p:cNvPr>
          <p:cNvCxnSpPr/>
          <p:nvPr/>
        </p:nvCxnSpPr>
        <p:spPr>
          <a:xfrm>
            <a:off x="0" y="36576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232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754356"/>
            <a:ext cx="9448800" cy="3247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Vinculums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, Vedic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Maths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and Modern Day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Logarithms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	2 ÷  3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= Log 2 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minus Log 3	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= 0.3010 – 0.4771			Use Smart Subtraction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=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- 0.1761   </a:t>
            </a: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	Both </a:t>
            </a:r>
            <a:r>
              <a:rPr lang="en-US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Charateristic</a:t>
            </a: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n Mantissa are Negative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= 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- 1.0000</a:t>
            </a: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+  1.0000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– 0.1761</a:t>
            </a:r>
            <a:r>
              <a:rPr kumimoji="0" lang="en-US" sz="18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Add +1.0000 and – 1.0000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= 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. 8239		 	Use Base Method Subtraction for error free 						Calculation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B2AAE4D-AD49-63B6-AF9A-1E79C345BDC0}"/>
              </a:ext>
            </a:extLst>
          </p:cNvPr>
          <p:cNvCxnSpPr>
            <a:cxnSpLocks/>
          </p:cNvCxnSpPr>
          <p:nvPr/>
        </p:nvCxnSpPr>
        <p:spPr>
          <a:xfrm>
            <a:off x="1219200" y="4419600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602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3278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Addition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+ sign is called </a:t>
            </a:r>
            <a:r>
              <a:rPr lang="en-US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St Andrew’s Cross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1+2+3 are </a:t>
            </a:r>
            <a:r>
              <a:rPr lang="en-US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Addends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1 alone is an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Augend</a:t>
            </a:r>
          </a:p>
        </p:txBody>
      </p:sp>
    </p:spTree>
    <p:extLst>
      <p:ext uri="{BB962C8B-B14F-4D97-AF65-F5344CB8AC3E}">
        <p14:creationId xmlns:p14="http://schemas.microsoft.com/office/powerpoint/2010/main" val="363538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3278"/>
            <a:ext cx="9144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Subtraction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571500" marR="0" lvl="0" indent="-5715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sign is called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Middle Hyphe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5 – 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5 is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Minuend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 is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Subtrahend</a:t>
            </a:r>
          </a:p>
        </p:txBody>
      </p:sp>
    </p:spTree>
    <p:extLst>
      <p:ext uri="{BB962C8B-B14F-4D97-AF65-F5344CB8AC3E}">
        <p14:creationId xmlns:p14="http://schemas.microsoft.com/office/powerpoint/2010/main" val="135155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3278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Multiplication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X  sign is called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Saltire</a:t>
            </a:r>
          </a:p>
        </p:txBody>
      </p:sp>
    </p:spTree>
    <p:extLst>
      <p:ext uri="{BB962C8B-B14F-4D97-AF65-F5344CB8AC3E}">
        <p14:creationId xmlns:p14="http://schemas.microsoft.com/office/powerpoint/2010/main" val="4128048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3278"/>
            <a:ext cx="914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Division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÷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sign is called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Obelus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/  is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Virgule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or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Solidus</a:t>
            </a:r>
          </a:p>
        </p:txBody>
      </p:sp>
    </p:spTree>
    <p:extLst>
      <p:ext uri="{BB962C8B-B14F-4D97-AF65-F5344CB8AC3E}">
        <p14:creationId xmlns:p14="http://schemas.microsoft.com/office/powerpoint/2010/main" val="1121415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3278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Double Tilde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≈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5066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295400"/>
            <a:ext cx="9144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Latin Long 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∫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Short for </a:t>
            </a:r>
            <a:r>
              <a:rPr lang="en-US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Summa</a:t>
            </a:r>
            <a:r>
              <a:rPr lang="en-US" sz="36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36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tion</a:t>
            </a:r>
            <a:r>
              <a:rPr lang="en-US" sz="360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2529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29540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How are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Radians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written in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Maths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154376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19050"/>
                <a:ext cx="9144000" cy="6740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Maths for Thinkers  !!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lvl="0">
                  <a:defRPr/>
                </a:pPr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	Sin</a:t>
                </a:r>
                <a:r>
                  <a:rPr lang="en-US" sz="3600" baseline="30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𝜃</m:t>
                    </m:r>
                  </m:oMath>
                </a14:m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+ Cos</a:t>
                </a:r>
                <a:r>
                  <a:rPr lang="en-US" sz="3600" baseline="30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3600" baseline="30000" dirty="0">
                    <a:solidFill>
                      <a:prstClr val="black"/>
                    </a:solidFill>
                    <a:ea typeface="Cambria Math" panose="02040503050406030204" pitchFamily="18" charset="0"/>
                    <a:cs typeface="Times New Roman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𝜃</m:t>
                    </m:r>
                  </m:oMath>
                </a14:m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= 	1</a:t>
                </a: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lvl="0">
                  <a:defRPr/>
                </a:pPr>
                <a:endParaRPr lang="en-US" sz="36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	Tan</a:t>
                </a:r>
                <a:r>
                  <a:rPr lang="en-US" sz="3600" baseline="30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𝜃</m:t>
                    </m:r>
                  </m:oMath>
                </a14:m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+ 1		 = 	Sec</a:t>
                </a:r>
                <a:r>
                  <a:rPr lang="en-US" sz="3600" baseline="30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𝜃</m:t>
                    </m:r>
                  </m:oMath>
                </a14:m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lvl="0">
                  <a:defRPr/>
                </a:pPr>
                <a:endParaRPr lang="en-US" sz="3600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	Sec</a:t>
                </a:r>
                <a:r>
                  <a:rPr lang="en-US" sz="3600" baseline="30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𝜃</m:t>
                    </m:r>
                  </m:oMath>
                </a14:m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– 1		 = 	Tan</a:t>
                </a:r>
                <a:r>
                  <a:rPr lang="en-US" sz="3600" baseline="300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𝜃</m:t>
                    </m:r>
                  </m:oMath>
                </a14:m>
                <a:endParaRPr lang="en-US" sz="3600" dirty="0">
                  <a:solidFill>
                    <a:prstClr val="black"/>
                  </a:solidFill>
                  <a:latin typeface="Times New Roman" pitchFamily="18" charset="0"/>
                  <a:ea typeface="Cambria Math" panose="02040503050406030204" pitchFamily="18" charset="0"/>
                  <a:cs typeface="Times New Roman" pitchFamily="18" charset="0"/>
                </a:endParaRPr>
              </a:p>
              <a:p>
                <a:pPr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Why these </a:t>
                </a:r>
                <a:r>
                  <a:rPr lang="en-US" sz="3600" b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3 trig ids are used in the Eulerian Algebraic to Trig Substitution </a:t>
                </a:r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?</a:t>
                </a:r>
              </a:p>
              <a:p>
                <a:pPr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3600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Hint   answer is in the question itself</a:t>
                </a: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050"/>
                <a:ext cx="9144000" cy="6740307"/>
              </a:xfrm>
              <a:prstGeom prst="rect">
                <a:avLst/>
              </a:prstGeom>
              <a:blipFill>
                <a:blip r:embed="rId3"/>
                <a:stretch>
                  <a:fillRect l="-2000" t="-1447" b="-2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476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3278"/>
            <a:ext cx="9144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Maths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for Thinkers !!</a:t>
            </a: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Compute Sine 1◦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	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Using Class 11 Trig and Algebra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	Class 8 Geometry and Class 12 Integral Calculus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4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0" y="33278"/>
                <a:ext cx="9144000" cy="36420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Maths for Thinkers !!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Derive </a:t>
                </a:r>
                <a:r>
                  <a:rPr kumimoji="0" lang="en-US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Factorial</a:t>
                </a: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 form of </a:t>
                </a:r>
                <a:r>
                  <a:rPr kumimoji="0" lang="en-US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e</a:t>
                </a: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 from its Li</a:t>
                </a:r>
                <a:r>
                  <a:rPr lang="en-US" sz="2800" b="1" dirty="0" err="1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mits</a:t>
                </a:r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 form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ea typeface="+mn-ea"/>
                  <a:cs typeface="Times New Roman" pitchFamily="18" charset="0"/>
                </a:endParaRPr>
              </a:p>
              <a:p>
                <a:pPr lvl="1">
                  <a:defRPr/>
                </a:pPr>
                <a:r>
                  <a:rPr lang="en-US" sz="2400" b="1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lim</m:t>
                            </m:r>
                            <m:r>
                              <a:rPr lang="en-US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x</m:t>
                            </m:r>
                          </m:e>
                          <m:lim>
                            <m:r>
                              <a:rPr lang="en-US" sz="2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∞</m:t>
                            </m:r>
                          </m:lim>
                        </m:limLow>
                      </m:fName>
                      <m:e>
                        <m: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( </m:t>
                        </m:r>
                        <m: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𝟏</m:t>
                        </m:r>
                        <m:r>
                          <a:rPr lang="en-US" sz="2400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+ </m:t>
                        </m:r>
                        <m:f>
                          <m:fPr>
                            <m:ctrlPr>
                              <a:rPr lang="en-US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US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en-US" sz="2400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𝒙</m:t>
                            </m:r>
                          </m:den>
                        </m:f>
                      </m:e>
                    </m:func>
                  </m:oMath>
                </a14:m>
                <a:r>
                  <a:rPr kumimoji="0" 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 ) </a:t>
                </a:r>
                <a:r>
                  <a:rPr kumimoji="0" lang="en-US" sz="2800" b="1" i="0" u="none" strike="noStrike" kern="1200" cap="none" spc="0" normalizeH="0" baseline="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itchFamily="18" charset="0"/>
                    <a:ea typeface="+mn-ea"/>
                    <a:cs typeface="Times New Roman" pitchFamily="18" charset="0"/>
                  </a:rPr>
                  <a:t>x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278"/>
                <a:ext cx="9144000" cy="3642023"/>
              </a:xfrm>
              <a:prstGeom prst="rect">
                <a:avLst/>
              </a:prstGeom>
              <a:blipFill>
                <a:blip r:embed="rId3"/>
                <a:stretch>
                  <a:fillRect l="-1333" t="-2676" b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373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3278"/>
            <a:ext cx="9144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Maths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for Thinkers !!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Which is greater ?		e</a:t>
            </a:r>
            <a:r>
              <a:rPr kumimoji="0" lang="el-GR" sz="3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or   </a:t>
            </a:r>
            <a:r>
              <a:rPr kumimoji="0" lang="el-G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π</a:t>
            </a:r>
            <a:r>
              <a:rPr kumimoji="0" lang="en-US" sz="3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</a:t>
            </a: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Answer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it as per a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wa</a:t>
            </a:r>
            <a:r>
              <a:rPr lang="en-US" sz="2400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ll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street bank interview question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Use Integral Calculus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605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178546"/>
            <a:ext cx="9144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Thank You</a:t>
            </a: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				Vishal Bhatia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		 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				 87 99 7444 90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2" name="Picture 1" descr="Whatsapp Logo PNG icon 16716480 PNG">
            <a:extLst>
              <a:ext uri="{FF2B5EF4-FFF2-40B4-BE49-F238E27FC236}">
                <a16:creationId xmlns:a16="http://schemas.microsoft.com/office/drawing/2014/main" id="{A00B9FF4-65CD-AAE1-BABC-572296038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800600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429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1555</TotalTime>
  <Words>436</Words>
  <Application>Microsoft Office PowerPoint</Application>
  <PresentationFormat>On-screen Show (4:3)</PresentationFormat>
  <Paragraphs>135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SONY</dc:creator>
  <cp:lastModifiedBy>LENOVO</cp:lastModifiedBy>
  <cp:revision>128</cp:revision>
  <dcterms:created xsi:type="dcterms:W3CDTF">2026-07-16T11:54:57Z</dcterms:created>
  <dcterms:modified xsi:type="dcterms:W3CDTF">2026-08-12T02:29:16Z</dcterms:modified>
</cp:coreProperties>
</file>